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a134f9c50e47e3" /><Relationship Type="http://schemas.openxmlformats.org/officeDocument/2006/relationships/extended-properties" Target="/docProps/app.xml" Id="Rfc38545e18b04322" /><Relationship Type="http://schemas.openxmlformats.org/officeDocument/2006/relationships/officeDocument" Target="/ppt/presentation.xml" Id="Rb2b37d744cc543c0" /></Relationships>
</file>

<file path=ppt/presentation.xml><?xml version="1.0" encoding="utf-8"?>
<p:presentation xmlns:p="http://schemas.openxmlformats.org/presentationml/2006/main">
  <p:sldMasterIdLst>
    <p:sldMasterId xmlns:r="http://schemas.openxmlformats.org/officeDocument/2006/relationships" id="2147483648" r:id="R153a5ddcf65041ed"/>
  </p:sldMasterIdLst>
  <p:notesMasterIdLst>
    <p:notesMasterId xmlns:r="http://schemas.openxmlformats.org/officeDocument/2006/relationships" r:id="Rbad8469da69f4be9"/>
  </p:notesMasterIdLst>
  <p:sldIdLst>
    <p:sldId xmlns:r="http://schemas.openxmlformats.org/officeDocument/2006/relationships" id="256" r:id="Ra210145e92d94804"/>
    <p:sldId xmlns:r="http://schemas.openxmlformats.org/officeDocument/2006/relationships" id="257" r:id="R40a55aa287b44929"/>
  </p:sldIdLst>
  <p:sldSz cx="9144000" cy="5143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ff7b5d5cc4b4eb9" /><Relationship Type="http://schemas.openxmlformats.org/officeDocument/2006/relationships/slideMaster" Target="/ppt/slideMasters/slideMaster1.xml" Id="R153a5ddcf65041ed" /><Relationship Type="http://schemas.openxmlformats.org/officeDocument/2006/relationships/notesMaster" Target="/ppt/notesMasters/notesMaster1.xml" Id="Rbad8469da69f4be9" /><Relationship Type="http://schemas.openxmlformats.org/officeDocument/2006/relationships/presProps" Target="/ppt/presProps.xml" Id="Raad47f9ceabc4354" /><Relationship Type="http://schemas.openxmlformats.org/officeDocument/2006/relationships/viewProps" Target="/ppt/viewProps.xml" Id="Rcc78613c26144c56" /><Relationship Type="http://schemas.openxmlformats.org/officeDocument/2006/relationships/tableStyles" Target="/ppt/tableStyles.xml" Id="R9bb52fda544d4339" /><Relationship Type="http://schemas.openxmlformats.org/officeDocument/2006/relationships/slide" Target="/ppt/slides/slide1.xml" Id="Ra210145e92d94804" /><Relationship Type="http://schemas.openxmlformats.org/officeDocument/2006/relationships/slide" Target="/ppt/slides/slide2.xml" Id="R40a55aa287b449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6c91311eab4b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ef47c1d6c94374" /><Relationship Type="http://schemas.openxmlformats.org/officeDocument/2006/relationships/notesMaster" Target="/ppt/notesMasters/notesMaster1.xml" Id="R386f0787abe341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15062ab1644c8e" /><Relationship Type="http://schemas.openxmlformats.org/officeDocument/2006/relationships/notesMaster" Target="/ppt/notesMasters/notesMaster1.xml" Id="R1c76fc4af8594d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e278c7bca942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33a332714148a7" /><Relationship Type="http://schemas.openxmlformats.org/officeDocument/2006/relationships/slideLayout" Target="/ppt/slideLayouts/slideLayout1.xml" Id="R7bd766b40ccc43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d766b40ccc43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df185802584165" /><Relationship Type="http://schemas.openxmlformats.org/officeDocument/2006/relationships/image" Target="/ppt/media/image.png" Id="R745acd9678aa4571" /><Relationship Type="http://schemas.openxmlformats.org/officeDocument/2006/relationships/notesSlide" Target="/ppt/notesSlides/notesSlide1.xml" Id="R54df5330b9d04b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f4410b4f2247bd" /><Relationship Type="http://schemas.openxmlformats.org/officeDocument/2006/relationships/image" Target="/ppt/media/image2.png" Id="R607d908013514b10" /><Relationship Type="http://schemas.openxmlformats.org/officeDocument/2006/relationships/image" Target="/ppt/media/image3.png" Id="Rfa2798aa327f46a0" /><Relationship Type="http://schemas.openxmlformats.org/officeDocument/2006/relationships/notesSlide" Target="/ppt/notesSlides/notesSlide2.xml" Id="R3357871af31044a4" /></Relationships>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0F98EA2-8690-48A8-8CF4-9DB10F98B471}"/>
              </a:ext>
            </a:extLst>
          </p:cNvPr>
          <p:cNvSpPr>
            <a:spLocks xmlns:a="http://schemas.openxmlformats.org/drawingml/2006/main" noGrp="1"/>
          </p:cNvSpPr>
          <p:nvPr/>
        </p:nvSpPr>
        <p:spPr>
          <a:xfrm xmlns:a="http://schemas.openxmlformats.org/drawingml/2006/main">
            <a:off x="400050" y="266700"/>
            <a:ext cx="4953000" cy="171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00" b="1">
                <a:solidFill>
                  <a:srgbClr val="0B8F87"/>
                </a:solidFill>
                <a:latin typeface="Segoe UI"/>
                <a:ea typeface="Segoe UI"/>
                <a:cs typeface="Segoe UI"/>
              </a:defRPr>
            </a:pPr>
            <a:r>
              <a:rPr sz="900" b="1">
                <a:solidFill>
                  <a:srgbClr val="0B8F87"/>
                </a:solidFill>
                <a:latin typeface="Segoe UI"/>
                <a:ea typeface="Segoe UI"/>
                <a:cs typeface="Segoe UI"/>
              </a:rPr>
              <a:t>Real-hardware evidence</a:t>
            </a:r>
          </a:p>
        </p:txBody>
      </p:sp>
      <p:sp>
        <p:nvSpPr>
          <p:cNvPr id="2" name="">
            <a:extLst xmlns:a="http://schemas.openxmlformats.org/drawingml/2006/main">
              <a:ext uri="{FF2B5EF4-FFF2-40B4-BE49-F238E27FC236}">
                <a16:creationId xmlns:a16="http://schemas.microsoft.com/office/drawing/2014/main" id="{5C6DE283-C3FA-4389-AE38-EFC89F82273A}"/>
              </a:ext>
            </a:extLst>
          </p:cNvPr>
          <p:cNvSpPr>
            <a:spLocks xmlns:a="http://schemas.openxmlformats.org/drawingml/2006/main" noGrp="1"/>
          </p:cNvSpPr>
          <p:nvPr/>
        </p:nvSpPr>
        <p:spPr>
          <a:xfrm xmlns:a="http://schemas.openxmlformats.org/drawingml/2006/main">
            <a:off x="400050" y="495300"/>
            <a:ext cx="6953250" cy="4000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lnSpc>
                <a:spcPct val="100000"/>
              </a:lnSpc>
              <a:buNone/>
              <a:defRPr sz="2175" b="1">
                <a:solidFill>
                  <a:srgbClr val="17212B"/>
                </a:solidFill>
                <a:latin typeface="Segoe UI"/>
                <a:ea typeface="Segoe UI"/>
                <a:cs typeface="Segoe UI"/>
              </a:defRPr>
            </a:pPr>
            <a:r>
              <a:rPr sz="2175" b="1">
                <a:solidFill>
                  <a:srgbClr val="17212B"/>
                </a:solidFill>
                <a:latin typeface="Segoe UI"/>
                <a:ea typeface="Segoe UI"/>
                <a:cs typeface="Segoe UI"/>
              </a:rPr>
              <a:t>mROS2-ESP32 QoS Progress: Real-Hardware Results</a:t>
            </a:r>
          </a:p>
        </p:txBody>
      </p:sp>
      <p:sp>
        <p:nvSpPr>
          <p:cNvPr id="3" name="">
            <a:extLst xmlns:a="http://schemas.openxmlformats.org/drawingml/2006/main">
              <a:ext uri="{FF2B5EF4-FFF2-40B4-BE49-F238E27FC236}">
                <a16:creationId xmlns:a16="http://schemas.microsoft.com/office/drawing/2014/main" id="{994E599F-74A7-4BD3-884E-01DE84538C3A}"/>
              </a:ext>
            </a:extLst>
          </p:cNvPr>
          <p:cNvSpPr>
            <a:spLocks xmlns:a="http://schemas.openxmlformats.org/drawingml/2006/main" noGrp="1"/>
          </p:cNvSpPr>
          <p:nvPr/>
        </p:nvSpPr>
        <p:spPr>
          <a:xfrm xmlns:a="http://schemas.openxmlformats.org/drawingml/2006/main">
            <a:off x="6972300" y="323850"/>
            <a:ext cx="177165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750" b="0">
                <a:solidFill>
                  <a:srgbClr val="5B6876"/>
                </a:solidFill>
                <a:latin typeface="Segoe UI"/>
                <a:ea typeface="Segoe UI"/>
                <a:cs typeface="Segoe UI"/>
              </a:defRPr>
            </a:pPr>
            <a:r>
              <a:rPr sz="750" b="0">
                <a:solidFill>
                  <a:srgbClr val="5B6876"/>
                </a:solidFill>
                <a:latin typeface="Segoe UI"/>
                <a:ea typeface="Segoe UI"/>
                <a:cs typeface="Segoe UI"/>
              </a:rPr>
              <a:t>2026-06-10 | mROS2-ESP32 QoS progress</a:t>
            </a:r>
          </a:p>
        </p:txBody>
      </p:sp>
      <p:sp>
        <p:nvSpPr>
          <p:cNvPr id="4" name="">
            <a:extLst xmlns:a="http://schemas.openxmlformats.org/drawingml/2006/main">
              <a:ext uri="{FF2B5EF4-FFF2-40B4-BE49-F238E27FC236}">
                <a16:creationId xmlns:a16="http://schemas.microsoft.com/office/drawing/2014/main" id="{9B4016DA-ACCC-4947-8148-0F38F94AEA92}"/>
              </a:ext>
            </a:extLst>
          </p:cNvPr>
          <p:cNvSpPr>
            <a:spLocks xmlns:a="http://schemas.openxmlformats.org/drawingml/2006/main" noGrp="1"/>
          </p:cNvSpPr>
          <p:nvPr/>
        </p:nvSpPr>
        <p:spPr>
          <a:xfrm xmlns:a="http://schemas.openxmlformats.org/drawingml/2006/main">
            <a:off x="400050" y="995363"/>
            <a:ext cx="8343900" cy="9525"/>
          </a:xfrm>
          <a:prstGeom xmlns:a="http://schemas.openxmlformats.org/drawingml/2006/main" prst="rect">
            <a:avLst/>
          </a:prstGeom>
          <a:solidFill xmlns:a="http://schemas.openxmlformats.org/drawingml/2006/main">
            <a:srgbClr val="D8E0E7"/>
          </a:solidFill>
        </p:spPr>
      </p:sp>
      <p:sp>
        <p:nvSpPr>
          <p:cNvPr id="5" name="">
            <a:extLst xmlns:a="http://schemas.openxmlformats.org/drawingml/2006/main">
              <a:ext uri="{FF2B5EF4-FFF2-40B4-BE49-F238E27FC236}">
                <a16:creationId xmlns:a16="http://schemas.microsoft.com/office/drawing/2014/main" id="{3A133212-FC4B-490D-AA9F-E16434E37E17}"/>
              </a:ext>
            </a:extLst>
          </p:cNvPr>
          <p:cNvSpPr>
            <a:spLocks xmlns:a="http://schemas.openxmlformats.org/drawingml/2006/main" noGrp="1"/>
          </p:cNvSpPr>
          <p:nvPr/>
        </p:nvSpPr>
        <p:spPr>
          <a:xfrm xmlns:a="http://schemas.openxmlformats.org/drawingml/2006/main">
            <a:off x="400050" y="1143000"/>
            <a:ext cx="8334375" cy="3238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998" b="0">
                <a:solidFill>
                  <a:srgbClr val="5B6876"/>
                </a:solidFill>
                <a:latin typeface="Segoe UI"/>
                <a:ea typeface="Segoe UI"/>
                <a:cs typeface="Segoe UI"/>
              </a:defRPr>
            </a:pPr>
            <a:r>
              <a:rPr sz="998" b="0">
                <a:solidFill>
                  <a:srgbClr val="5B6876"/>
                </a:solidFill>
                <a:latin typeface="Segoe UI"/>
                <a:ea typeface="Segoe UI"/>
                <a:cs typeface="Segoe UI"/>
              </a:rPr>
              <a:t>Recent work moved the demo from “implemented” to “repeatable and evidence-led”: the preflight script now verifies bidirectional RELIABLE communication, ROS2 CLI QoS visibility, ESP32 behavior checks, and reset stress results.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45acd9678aa4571"/>
          <a:stretch xmlns:a="http://schemas.openxmlformats.org/drawingml/2006/main"/>
        </p:blipFill>
        <p:spPr>
          <a:xfrm xmlns:a="http://schemas.openxmlformats.org/drawingml/2006/main">
            <a:off x="403116" y="1600200"/>
            <a:ext cx="5089742" cy="20193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7738B43-CB27-42A8-A391-D965CEED0795}"/>
              </a:ext>
            </a:extLst>
          </p:cNvPr>
          <p:cNvSpPr>
            <a:spLocks xmlns:a="http://schemas.openxmlformats.org/drawingml/2006/main" noGrp="1"/>
          </p:cNvSpPr>
          <p:nvPr/>
        </p:nvSpPr>
        <p:spPr>
          <a:xfrm xmlns:a="http://schemas.openxmlformats.org/drawingml/2006/main">
            <a:off x="5715000" y="1600200"/>
            <a:ext cx="30289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8E0E7"/>
            </a:solidFill>
          </a:ln>
        </p:spPr>
      </p:sp>
      <p:sp>
        <p:nvSpPr>
          <p:cNvPr id="8" name="">
            <a:extLst xmlns:a="http://schemas.openxmlformats.org/drawingml/2006/main">
              <a:ext uri="{FF2B5EF4-FFF2-40B4-BE49-F238E27FC236}">
                <a16:creationId xmlns:a16="http://schemas.microsoft.com/office/drawing/2014/main" id="{A858578F-6317-4B85-BAE8-A6A01BB6B7BF}"/>
              </a:ext>
            </a:extLst>
          </p:cNvPr>
          <p:cNvSpPr>
            <a:spLocks xmlns:a="http://schemas.openxmlformats.org/drawingml/2006/main" noGrp="1"/>
          </p:cNvSpPr>
          <p:nvPr/>
        </p:nvSpPr>
        <p:spPr>
          <a:xfrm xmlns:a="http://schemas.openxmlformats.org/drawingml/2006/main">
            <a:off x="5715000" y="1600200"/>
            <a:ext cx="57150" cy="1104900"/>
          </a:xfrm>
          <a:prstGeom xmlns:a="http://schemas.openxmlformats.org/drawingml/2006/main" prst="rect">
            <a:avLst/>
          </a:prstGeom>
          <a:solidFill xmlns:a="http://schemas.openxmlformats.org/drawingml/2006/main">
            <a:srgbClr val="0B8F87"/>
          </a:solidFill>
        </p:spPr>
      </p:sp>
      <p:sp>
        <p:nvSpPr>
          <p:cNvPr id="9" name="">
            <a:extLst xmlns:a="http://schemas.openxmlformats.org/drawingml/2006/main">
              <a:ext uri="{FF2B5EF4-FFF2-40B4-BE49-F238E27FC236}">
                <a16:creationId xmlns:a16="http://schemas.microsoft.com/office/drawing/2014/main" id="{0971A5A6-6BD0-4593-B910-CA5BB679388E}"/>
              </a:ext>
            </a:extLst>
          </p:cNvPr>
          <p:cNvSpPr>
            <a:spLocks xmlns:a="http://schemas.openxmlformats.org/drawingml/2006/main" noGrp="1"/>
          </p:cNvSpPr>
          <p:nvPr/>
        </p:nvSpPr>
        <p:spPr>
          <a:xfrm xmlns:a="http://schemas.openxmlformats.org/drawingml/2006/main">
            <a:off x="5886450" y="1714500"/>
            <a:ext cx="2762250" cy="190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065" b="1">
                <a:solidFill>
                  <a:srgbClr val="17212B"/>
                </a:solidFill>
                <a:latin typeface="Segoe UI"/>
                <a:ea typeface="Segoe UI"/>
                <a:cs typeface="Segoe UI"/>
              </a:defRPr>
            </a:pPr>
            <a:r>
              <a:rPr sz="1065" b="1">
                <a:solidFill>
                  <a:srgbClr val="17212B"/>
                </a:solidFill>
                <a:latin typeface="Segoe UI"/>
                <a:ea typeface="Segoe UI"/>
                <a:cs typeface="Segoe UI"/>
              </a:rPr>
              <a:t>What this screenshot proves</a:t>
            </a:r>
          </a:p>
        </p:txBody>
      </p:sp>
      <p:sp>
        <p:nvSpPr>
          <p:cNvPr id="10" name="">
            <a:extLst xmlns:a="http://schemas.openxmlformats.org/drawingml/2006/main">
              <a:ext uri="{FF2B5EF4-FFF2-40B4-BE49-F238E27FC236}">
                <a16:creationId xmlns:a16="http://schemas.microsoft.com/office/drawing/2014/main" id="{483A81BF-6B9A-4BA8-A699-7378B493BCB4}"/>
              </a:ext>
            </a:extLst>
          </p:cNvPr>
          <p:cNvSpPr>
            <a:spLocks xmlns:a="http://schemas.openxmlformats.org/drawingml/2006/main" noGrp="1"/>
          </p:cNvSpPr>
          <p:nvPr/>
        </p:nvSpPr>
        <p:spPr>
          <a:xfrm xmlns:a="http://schemas.openxmlformats.org/drawingml/2006/main">
            <a:off x="5886450" y="1971675"/>
            <a:ext cx="27432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825" b="0">
                <a:solidFill>
                  <a:srgbClr val="5B6876"/>
                </a:solidFill>
                <a:latin typeface="Segoe UI"/>
                <a:ea typeface="Segoe UI"/>
                <a:cs typeface="Segoe UI"/>
              </a:defRPr>
            </a:pPr>
            <a:r>
              <a:rPr sz="825" b="0">
                <a:solidFill>
                  <a:srgbClr val="5B6876"/>
                </a:solidFill>
                <a:latin typeface="Segoe UI"/>
                <a:ea typeface="Segoe UI"/>
                <a:cs typeface="Segoe UI"/>
              </a:rPr>
              <a:t>The ESP32 publisher matched the ROS2 subscriber, and the ESP32 subscriber matched the ROS2 publisher. The ROS2 host received ESP32 data and replied; the ESP32 received 40 replies with zero packet drops.</a:t>
            </a:r>
          </a:p>
        </p:txBody>
      </p:sp>
      <p:sp>
        <p:nvSpPr>
          <p:cNvPr id="11" name="">
            <a:extLst xmlns:a="http://schemas.openxmlformats.org/drawingml/2006/main">
              <a:ext uri="{FF2B5EF4-FFF2-40B4-BE49-F238E27FC236}">
                <a16:creationId xmlns:a16="http://schemas.microsoft.com/office/drawing/2014/main" id="{B68E5519-ECBB-43A7-BE54-89172D1D4E95}"/>
              </a:ext>
            </a:extLst>
          </p:cNvPr>
          <p:cNvSpPr>
            <a:spLocks xmlns:a="http://schemas.openxmlformats.org/drawingml/2006/main" noGrp="1"/>
          </p:cNvSpPr>
          <p:nvPr/>
        </p:nvSpPr>
        <p:spPr>
          <a:xfrm xmlns:a="http://schemas.openxmlformats.org/drawingml/2006/main">
            <a:off x="5715000" y="2857500"/>
            <a:ext cx="30289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8E0E7"/>
            </a:solidFill>
          </a:ln>
        </p:spPr>
      </p:sp>
      <p:sp>
        <p:nvSpPr>
          <p:cNvPr id="12" name="">
            <a:extLst xmlns:a="http://schemas.openxmlformats.org/drawingml/2006/main">
              <a:ext uri="{FF2B5EF4-FFF2-40B4-BE49-F238E27FC236}">
                <a16:creationId xmlns:a16="http://schemas.microsoft.com/office/drawing/2014/main" id="{31180A59-5DBC-4D42-8A61-EF5551DE954B}"/>
              </a:ext>
            </a:extLst>
          </p:cNvPr>
          <p:cNvSpPr>
            <a:spLocks xmlns:a="http://schemas.openxmlformats.org/drawingml/2006/main" noGrp="1"/>
          </p:cNvSpPr>
          <p:nvPr/>
        </p:nvSpPr>
        <p:spPr>
          <a:xfrm xmlns:a="http://schemas.openxmlformats.org/drawingml/2006/main">
            <a:off x="5715000" y="2857500"/>
            <a:ext cx="57150" cy="857250"/>
          </a:xfrm>
          <a:prstGeom xmlns:a="http://schemas.openxmlformats.org/drawingml/2006/main" prst="rect">
            <a:avLst/>
          </a:prstGeom>
          <a:solidFill xmlns:a="http://schemas.openxmlformats.org/drawingml/2006/main">
            <a:srgbClr val="2B6CB0"/>
          </a:solidFill>
        </p:spPr>
      </p:sp>
      <p:sp>
        <p:nvSpPr>
          <p:cNvPr id="13" name="">
            <a:extLst xmlns:a="http://schemas.openxmlformats.org/drawingml/2006/main">
              <a:ext uri="{FF2B5EF4-FFF2-40B4-BE49-F238E27FC236}">
                <a16:creationId xmlns:a16="http://schemas.microsoft.com/office/drawing/2014/main" id="{9D048E51-9743-48BE-9AB2-0018618D3873}"/>
              </a:ext>
            </a:extLst>
          </p:cNvPr>
          <p:cNvSpPr>
            <a:spLocks xmlns:a="http://schemas.openxmlformats.org/drawingml/2006/main" noGrp="1"/>
          </p:cNvSpPr>
          <p:nvPr/>
        </p:nvSpPr>
        <p:spPr>
          <a:xfrm xmlns:a="http://schemas.openxmlformats.org/drawingml/2006/main">
            <a:off x="5886450" y="2971800"/>
            <a:ext cx="2762250" cy="190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065" b="1">
                <a:solidFill>
                  <a:srgbClr val="17212B"/>
                </a:solidFill>
                <a:latin typeface="Segoe UI"/>
                <a:ea typeface="Segoe UI"/>
                <a:cs typeface="Segoe UI"/>
              </a:defRPr>
            </a:pPr>
            <a:r>
              <a:rPr sz="1065" b="1">
                <a:solidFill>
                  <a:srgbClr val="17212B"/>
                </a:solidFill>
                <a:latin typeface="Segoe UI"/>
                <a:ea typeface="Segoe UI"/>
                <a:cs typeface="Segoe UI"/>
              </a:rPr>
              <a:t>Presentation wording</a:t>
            </a:r>
          </a:p>
        </p:txBody>
      </p:sp>
      <p:sp>
        <p:nvSpPr>
          <p:cNvPr id="14" name="">
            <a:extLst xmlns:a="http://schemas.openxmlformats.org/drawingml/2006/main">
              <a:ext uri="{FF2B5EF4-FFF2-40B4-BE49-F238E27FC236}">
                <a16:creationId xmlns:a16="http://schemas.microsoft.com/office/drawing/2014/main" id="{320EADC3-455E-4669-B325-868388227158}"/>
              </a:ext>
            </a:extLst>
          </p:cNvPr>
          <p:cNvSpPr>
            <a:spLocks xmlns:a="http://schemas.openxmlformats.org/drawingml/2006/main" noGrp="1"/>
          </p:cNvSpPr>
          <p:nvPr/>
        </p:nvSpPr>
        <p:spPr>
          <a:xfrm xmlns:a="http://schemas.openxmlformats.org/drawingml/2006/main">
            <a:off x="5886450" y="3228975"/>
            <a:ext cx="27432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825" b="0">
                <a:solidFill>
                  <a:srgbClr val="5B6876"/>
                </a:solidFill>
                <a:latin typeface="Segoe UI"/>
                <a:ea typeface="Segoe UI"/>
                <a:cs typeface="Segoe UI"/>
              </a:defRPr>
            </a:pPr>
            <a:r>
              <a:rPr sz="825" b="0">
                <a:solidFill>
                  <a:srgbClr val="5B6876"/>
                </a:solidFill>
                <a:latin typeface="Segoe UI"/>
                <a:ea typeface="Segoe UI"/>
                <a:cs typeface="Segoe UI"/>
              </a:rPr>
              <a:t>TX means messages sent by ESP32. RX means replies received by ESP32 from ROS2. TX/RX 40/40 shows a real bidirectional hardware loop, not a local-only test.</a:t>
            </a:r>
          </a:p>
        </p:txBody>
      </p:sp>
      <p:sp>
        <p:nvSpPr>
          <p:cNvPr id="15" name="">
            <a:extLst xmlns:a="http://schemas.openxmlformats.org/drawingml/2006/main">
              <a:ext uri="{FF2B5EF4-FFF2-40B4-BE49-F238E27FC236}">
                <a16:creationId xmlns:a16="http://schemas.microsoft.com/office/drawing/2014/main" id="{5E0CF445-7133-455C-B268-770866185AD5}"/>
              </a:ext>
            </a:extLst>
          </p:cNvPr>
          <p:cNvSpPr>
            <a:spLocks xmlns:a="http://schemas.openxmlformats.org/drawingml/2006/main" noGrp="1"/>
          </p:cNvSpPr>
          <p:nvPr/>
        </p:nvSpPr>
        <p:spPr>
          <a:xfrm xmlns:a="http://schemas.openxmlformats.org/drawingml/2006/main">
            <a:off x="400050" y="3924300"/>
            <a:ext cx="1885950" cy="685800"/>
          </a:xfrm>
          <a:prstGeom xmlns:a="http://schemas.openxmlformats.org/drawingml/2006/main" prst="roundRect">
            <a:avLst>
              <a:gd name="adj" fmla="val 11111"/>
            </a:avLst>
          </a:prstGeom>
          <a:solidFill xmlns:a="http://schemas.openxmlformats.org/drawingml/2006/main">
            <a:srgbClr val="E6F6EB"/>
          </a:solidFill>
          <a:ln xmlns:a="http://schemas.openxmlformats.org/drawingml/2006/main" w="4763">
            <a:solidFill>
              <a:srgbClr val="FFFFFF"/>
            </a:solidFill>
          </a:ln>
        </p:spPr>
      </p:sp>
      <p:sp>
        <p:nvSpPr>
          <p:cNvPr id="16" name="">
            <a:extLst xmlns:a="http://schemas.openxmlformats.org/drawingml/2006/main">
              <a:ext uri="{FF2B5EF4-FFF2-40B4-BE49-F238E27FC236}">
                <a16:creationId xmlns:a16="http://schemas.microsoft.com/office/drawing/2014/main" id="{B1AD6078-1384-4A17-A581-2D1D5FD4614F}"/>
              </a:ext>
            </a:extLst>
          </p:cNvPr>
          <p:cNvSpPr>
            <a:spLocks xmlns:a="http://schemas.openxmlformats.org/drawingml/2006/main" noGrp="1"/>
          </p:cNvSpPr>
          <p:nvPr/>
        </p:nvSpPr>
        <p:spPr>
          <a:xfrm xmlns:a="http://schemas.openxmlformats.org/drawingml/2006/main">
            <a:off x="533400" y="4019550"/>
            <a:ext cx="161925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75" b="1">
                <a:solidFill>
                  <a:srgbClr val="16803C"/>
                </a:solidFill>
                <a:latin typeface="Segoe UI"/>
                <a:ea typeface="Segoe UI"/>
                <a:cs typeface="Segoe UI"/>
              </a:defRPr>
            </a:pPr>
            <a:r>
              <a:rPr sz="1875" b="1">
                <a:solidFill>
                  <a:srgbClr val="16803C"/>
                </a:solidFill>
                <a:latin typeface="Segoe UI"/>
                <a:ea typeface="Segoe UI"/>
                <a:cs typeface="Segoe UI"/>
              </a:rPr>
              <a:t>PASS</a:t>
            </a:r>
          </a:p>
        </p:txBody>
      </p:sp>
      <p:sp>
        <p:nvSpPr>
          <p:cNvPr id="17" name="">
            <a:extLst xmlns:a="http://schemas.openxmlformats.org/drawingml/2006/main">
              <a:ext uri="{FF2B5EF4-FFF2-40B4-BE49-F238E27FC236}">
                <a16:creationId xmlns:a16="http://schemas.microsoft.com/office/drawing/2014/main" id="{00D5E3B1-504D-4347-ADCC-3385A766BE9D}"/>
              </a:ext>
            </a:extLst>
          </p:cNvPr>
          <p:cNvSpPr>
            <a:spLocks xmlns:a="http://schemas.openxmlformats.org/drawingml/2006/main" noGrp="1"/>
          </p:cNvSpPr>
          <p:nvPr/>
        </p:nvSpPr>
        <p:spPr>
          <a:xfrm xmlns:a="http://schemas.openxmlformats.org/drawingml/2006/main">
            <a:off x="533400" y="4333875"/>
            <a:ext cx="1619250" cy="190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lnSpc>
                <a:spcPct val="102000"/>
              </a:lnSpc>
              <a:buNone/>
              <a:defRPr sz="810" b="0">
                <a:solidFill>
                  <a:srgbClr val="5B6876"/>
                </a:solidFill>
                <a:latin typeface="Segoe UI"/>
                <a:ea typeface="Segoe UI"/>
                <a:cs typeface="Segoe UI"/>
              </a:defRPr>
            </a:pPr>
            <a:r>
              <a:rPr sz="810" b="0">
                <a:solidFill>
                  <a:srgbClr val="5B6876"/>
                </a:solidFill>
                <a:latin typeface="Segoe UI"/>
                <a:ea typeface="Segoe UI"/>
                <a:cs typeface="Segoe UI"/>
              </a:rPr>
              <a:t>strict preflight completed</a:t>
            </a:r>
          </a:p>
        </p:txBody>
      </p:sp>
      <p:sp>
        <p:nvSpPr>
          <p:cNvPr id="18" name="">
            <a:extLst xmlns:a="http://schemas.openxmlformats.org/drawingml/2006/main">
              <a:ext uri="{FF2B5EF4-FFF2-40B4-BE49-F238E27FC236}">
                <a16:creationId xmlns:a16="http://schemas.microsoft.com/office/drawing/2014/main" id="{F32002B2-A6A0-4209-8E62-D7DEC780E0C6}"/>
              </a:ext>
            </a:extLst>
          </p:cNvPr>
          <p:cNvSpPr>
            <a:spLocks xmlns:a="http://schemas.openxmlformats.org/drawingml/2006/main" noGrp="1"/>
          </p:cNvSpPr>
          <p:nvPr/>
        </p:nvSpPr>
        <p:spPr>
          <a:xfrm xmlns:a="http://schemas.openxmlformats.org/drawingml/2006/main">
            <a:off x="2476500" y="3924300"/>
            <a:ext cx="1885950" cy="685800"/>
          </a:xfrm>
          <a:prstGeom xmlns:a="http://schemas.openxmlformats.org/drawingml/2006/main" prst="roundRect">
            <a:avLst>
              <a:gd name="adj" fmla="val 11111"/>
            </a:avLst>
          </a:prstGeom>
          <a:solidFill xmlns:a="http://schemas.openxmlformats.org/drawingml/2006/main">
            <a:srgbClr val="DDF5F1"/>
          </a:solidFill>
          <a:ln xmlns:a="http://schemas.openxmlformats.org/drawingml/2006/main" w="4763">
            <a:solidFill>
              <a:srgbClr val="FFFFFF"/>
            </a:solidFill>
          </a:ln>
        </p:spPr>
      </p:sp>
      <p:sp>
        <p:nvSpPr>
          <p:cNvPr id="19" name="">
            <a:extLst xmlns:a="http://schemas.openxmlformats.org/drawingml/2006/main">
              <a:ext uri="{FF2B5EF4-FFF2-40B4-BE49-F238E27FC236}">
                <a16:creationId xmlns:a16="http://schemas.microsoft.com/office/drawing/2014/main" id="{0FAA945C-38B4-4871-B561-0F97DD4A4BCD}"/>
              </a:ext>
            </a:extLst>
          </p:cNvPr>
          <p:cNvSpPr>
            <a:spLocks xmlns:a="http://schemas.openxmlformats.org/drawingml/2006/main" noGrp="1"/>
          </p:cNvSpPr>
          <p:nvPr/>
        </p:nvSpPr>
        <p:spPr>
          <a:xfrm xmlns:a="http://schemas.openxmlformats.org/drawingml/2006/main">
            <a:off x="2609850" y="4019550"/>
            <a:ext cx="161925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1">
                <a:solidFill>
                  <a:srgbClr val="0B8F87"/>
                </a:solidFill>
                <a:latin typeface="Segoe UI"/>
                <a:ea typeface="Segoe UI"/>
                <a:cs typeface="Segoe UI"/>
              </a:defRPr>
            </a:pPr>
            <a:r>
              <a:rPr sz="1650" b="1">
                <a:solidFill>
                  <a:srgbClr val="0B8F87"/>
                </a:solidFill>
                <a:latin typeface="Segoe UI"/>
                <a:ea typeface="Segoe UI"/>
                <a:cs typeface="Segoe UI"/>
              </a:rPr>
              <a:t>RELIABLE x2</a:t>
            </a:r>
          </a:p>
        </p:txBody>
      </p:sp>
      <p:sp>
        <p:nvSpPr>
          <p:cNvPr id="20" name="">
            <a:extLst xmlns:a="http://schemas.openxmlformats.org/drawingml/2006/main">
              <a:ext uri="{FF2B5EF4-FFF2-40B4-BE49-F238E27FC236}">
                <a16:creationId xmlns:a16="http://schemas.microsoft.com/office/drawing/2014/main" id="{14636316-C282-4142-AEA8-70C59A0BF15F}"/>
              </a:ext>
            </a:extLst>
          </p:cNvPr>
          <p:cNvSpPr>
            <a:spLocks xmlns:a="http://schemas.openxmlformats.org/drawingml/2006/main" noGrp="1"/>
          </p:cNvSpPr>
          <p:nvPr/>
        </p:nvSpPr>
        <p:spPr>
          <a:xfrm xmlns:a="http://schemas.openxmlformats.org/drawingml/2006/main">
            <a:off x="2609850" y="4333875"/>
            <a:ext cx="1619250" cy="190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lnSpc>
                <a:spcPct val="102000"/>
              </a:lnSpc>
              <a:buNone/>
              <a:defRPr sz="810" b="0">
                <a:solidFill>
                  <a:srgbClr val="5B6876"/>
                </a:solidFill>
                <a:latin typeface="Segoe UI"/>
                <a:ea typeface="Segoe UI"/>
                <a:cs typeface="Segoe UI"/>
              </a:defRPr>
            </a:pPr>
            <a:r>
              <a:rPr sz="810" b="0">
                <a:solidFill>
                  <a:srgbClr val="5B6876"/>
                </a:solidFill>
                <a:latin typeface="Segoe UI"/>
                <a:ea typeface="Segoe UI"/>
                <a:cs typeface="Segoe UI"/>
              </a:rPr>
              <a:t>uplink and reply path</a:t>
            </a:r>
          </a:p>
        </p:txBody>
      </p:sp>
      <p:sp>
        <p:nvSpPr>
          <p:cNvPr id="21" name="">
            <a:extLst xmlns:a="http://schemas.openxmlformats.org/drawingml/2006/main">
              <a:ext uri="{FF2B5EF4-FFF2-40B4-BE49-F238E27FC236}">
                <a16:creationId xmlns:a16="http://schemas.microsoft.com/office/drawing/2014/main" id="{BE124D2F-AA55-4E37-AE7C-A109DE4EE82A}"/>
              </a:ext>
            </a:extLst>
          </p:cNvPr>
          <p:cNvSpPr>
            <a:spLocks xmlns:a="http://schemas.openxmlformats.org/drawingml/2006/main" noGrp="1"/>
          </p:cNvSpPr>
          <p:nvPr/>
        </p:nvSpPr>
        <p:spPr>
          <a:xfrm xmlns:a="http://schemas.openxmlformats.org/drawingml/2006/main">
            <a:off x="4552950" y="3924300"/>
            <a:ext cx="1885950" cy="685800"/>
          </a:xfrm>
          <a:prstGeom xmlns:a="http://schemas.openxmlformats.org/drawingml/2006/main" prst="roundRect">
            <a:avLst>
              <a:gd name="adj" fmla="val 11111"/>
            </a:avLst>
          </a:prstGeom>
          <a:solidFill xmlns:a="http://schemas.openxmlformats.org/drawingml/2006/main">
            <a:srgbClr val="E8F1FB"/>
          </a:solidFill>
          <a:ln xmlns:a="http://schemas.openxmlformats.org/drawingml/2006/main" w="4763">
            <a:solidFill>
              <a:srgbClr val="FFFFFF"/>
            </a:solidFill>
          </a:ln>
        </p:spPr>
      </p:sp>
      <p:sp>
        <p:nvSpPr>
          <p:cNvPr id="22" name="">
            <a:extLst xmlns:a="http://schemas.openxmlformats.org/drawingml/2006/main">
              <a:ext uri="{FF2B5EF4-FFF2-40B4-BE49-F238E27FC236}">
                <a16:creationId xmlns:a16="http://schemas.microsoft.com/office/drawing/2014/main" id="{7D40305D-8229-4259-A8DB-46388B355E01}"/>
              </a:ext>
            </a:extLst>
          </p:cNvPr>
          <p:cNvSpPr>
            <a:spLocks xmlns:a="http://schemas.openxmlformats.org/drawingml/2006/main" noGrp="1"/>
          </p:cNvSpPr>
          <p:nvPr/>
        </p:nvSpPr>
        <p:spPr>
          <a:xfrm xmlns:a="http://schemas.openxmlformats.org/drawingml/2006/main">
            <a:off x="4686300" y="4019550"/>
            <a:ext cx="161925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650" b="1">
                <a:solidFill>
                  <a:srgbClr val="2B6CB0"/>
                </a:solidFill>
                <a:latin typeface="Segoe UI"/>
                <a:ea typeface="Segoe UI"/>
                <a:cs typeface="Segoe UI"/>
              </a:defRPr>
            </a:pPr>
            <a:r>
              <a:rPr sz="1650" b="1">
                <a:solidFill>
                  <a:srgbClr val="2B6CB0"/>
                </a:solidFill>
                <a:latin typeface="Segoe UI"/>
                <a:ea typeface="Segoe UI"/>
                <a:cs typeface="Segoe UI"/>
              </a:rPr>
              <a:t>TX/RX 40/40</a:t>
            </a:r>
          </a:p>
        </p:txBody>
      </p:sp>
      <p:sp>
        <p:nvSpPr>
          <p:cNvPr id="23" name="">
            <a:extLst xmlns:a="http://schemas.openxmlformats.org/drawingml/2006/main">
              <a:ext uri="{FF2B5EF4-FFF2-40B4-BE49-F238E27FC236}">
                <a16:creationId xmlns:a16="http://schemas.microsoft.com/office/drawing/2014/main" id="{E4A7BFF8-4BC6-42C6-8A7C-DCC1540CFB37}"/>
              </a:ext>
            </a:extLst>
          </p:cNvPr>
          <p:cNvSpPr>
            <a:spLocks xmlns:a="http://schemas.openxmlformats.org/drawingml/2006/main" noGrp="1"/>
          </p:cNvSpPr>
          <p:nvPr/>
        </p:nvSpPr>
        <p:spPr>
          <a:xfrm xmlns:a="http://schemas.openxmlformats.org/drawingml/2006/main">
            <a:off x="4686300" y="4333875"/>
            <a:ext cx="1619250" cy="190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lnSpc>
                <a:spcPct val="102000"/>
              </a:lnSpc>
              <a:buNone/>
              <a:defRPr sz="810" b="0">
                <a:solidFill>
                  <a:srgbClr val="5B6876"/>
                </a:solidFill>
                <a:latin typeface="Segoe UI"/>
                <a:ea typeface="Segoe UI"/>
                <a:cs typeface="Segoe UI"/>
              </a:defRPr>
            </a:pPr>
            <a:r>
              <a:rPr sz="810" b="0">
                <a:solidFill>
                  <a:srgbClr val="5B6876"/>
                </a:solidFill>
                <a:latin typeface="Segoe UI"/>
                <a:ea typeface="Segoe UI"/>
                <a:cs typeface="Segoe UI"/>
              </a:rPr>
              <a:t>bidirectional echo loop</a:t>
            </a:r>
          </a:p>
        </p:txBody>
      </p:sp>
      <p:sp>
        <p:nvSpPr>
          <p:cNvPr id="24" name="">
            <a:extLst xmlns:a="http://schemas.openxmlformats.org/drawingml/2006/main">
              <a:ext uri="{FF2B5EF4-FFF2-40B4-BE49-F238E27FC236}">
                <a16:creationId xmlns:a16="http://schemas.microsoft.com/office/drawing/2014/main" id="{9C3EF4CD-B067-4A47-86F1-03AA3CB77669}"/>
              </a:ext>
            </a:extLst>
          </p:cNvPr>
          <p:cNvSpPr>
            <a:spLocks xmlns:a="http://schemas.openxmlformats.org/drawingml/2006/main" noGrp="1"/>
          </p:cNvSpPr>
          <p:nvPr/>
        </p:nvSpPr>
        <p:spPr>
          <a:xfrm xmlns:a="http://schemas.openxmlformats.org/drawingml/2006/main">
            <a:off x="6629400" y="3924300"/>
            <a:ext cx="1885950" cy="685800"/>
          </a:xfrm>
          <a:prstGeom xmlns:a="http://schemas.openxmlformats.org/drawingml/2006/main" prst="roundRect">
            <a:avLst>
              <a:gd name="adj" fmla="val 11111"/>
            </a:avLst>
          </a:prstGeom>
          <a:solidFill xmlns:a="http://schemas.openxmlformats.org/drawingml/2006/main">
            <a:srgbClr val="E6F6EB"/>
          </a:solidFill>
          <a:ln xmlns:a="http://schemas.openxmlformats.org/drawingml/2006/main" w="4763">
            <a:solidFill>
              <a:srgbClr val="FFFFFF"/>
            </a:solidFill>
          </a:ln>
        </p:spPr>
      </p:sp>
      <p:sp>
        <p:nvSpPr>
          <p:cNvPr id="25" name="">
            <a:extLst xmlns:a="http://schemas.openxmlformats.org/drawingml/2006/main">
              <a:ext uri="{FF2B5EF4-FFF2-40B4-BE49-F238E27FC236}">
                <a16:creationId xmlns:a16="http://schemas.microsoft.com/office/drawing/2014/main" id="{7DD707DB-8BD8-4BD5-AF3F-9D41076F3006}"/>
              </a:ext>
            </a:extLst>
          </p:cNvPr>
          <p:cNvSpPr>
            <a:spLocks xmlns:a="http://schemas.openxmlformats.org/drawingml/2006/main" noGrp="1"/>
          </p:cNvSpPr>
          <p:nvPr/>
        </p:nvSpPr>
        <p:spPr>
          <a:xfrm xmlns:a="http://schemas.openxmlformats.org/drawingml/2006/main">
            <a:off x="6762750" y="4019550"/>
            <a:ext cx="161925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75" b="1">
                <a:solidFill>
                  <a:srgbClr val="16803C"/>
                </a:solidFill>
                <a:latin typeface="Segoe UI"/>
                <a:ea typeface="Segoe UI"/>
                <a:cs typeface="Segoe UI"/>
              </a:defRPr>
            </a:pPr>
            <a:r>
              <a:rPr sz="1875" b="1">
                <a:solidFill>
                  <a:srgbClr val="16803C"/>
                </a:solidFill>
                <a:latin typeface="Segoe UI"/>
                <a:ea typeface="Segoe UI"/>
                <a:cs typeface="Segoe UI"/>
              </a:rPr>
              <a:t>3/3 PASS</a:t>
            </a:r>
          </a:p>
        </p:txBody>
      </p:sp>
      <p:sp>
        <p:nvSpPr>
          <p:cNvPr id="26" name="">
            <a:extLst xmlns:a="http://schemas.openxmlformats.org/drawingml/2006/main">
              <a:ext uri="{FF2B5EF4-FFF2-40B4-BE49-F238E27FC236}">
                <a16:creationId xmlns:a16="http://schemas.microsoft.com/office/drawing/2014/main" id="{A063C798-DE0E-4207-A380-073D186D420C}"/>
              </a:ext>
            </a:extLst>
          </p:cNvPr>
          <p:cNvSpPr>
            <a:spLocks xmlns:a="http://schemas.openxmlformats.org/drawingml/2006/main" noGrp="1"/>
          </p:cNvSpPr>
          <p:nvPr/>
        </p:nvSpPr>
        <p:spPr>
          <a:xfrm xmlns:a="http://schemas.openxmlformats.org/drawingml/2006/main">
            <a:off x="6762750" y="4333875"/>
            <a:ext cx="1619250" cy="190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lnSpc>
                <a:spcPct val="102000"/>
              </a:lnSpc>
              <a:buNone/>
              <a:defRPr sz="810" b="0">
                <a:solidFill>
                  <a:srgbClr val="5B6876"/>
                </a:solidFill>
                <a:latin typeface="Segoe UI"/>
                <a:ea typeface="Segoe UI"/>
                <a:cs typeface="Segoe UI"/>
              </a:defRPr>
            </a:pPr>
            <a:r>
              <a:rPr sz="810" b="0">
                <a:solidFill>
                  <a:srgbClr val="5B6876"/>
                </a:solidFill>
                <a:latin typeface="Segoe UI"/>
                <a:ea typeface="Segoe UI"/>
                <a:cs typeface="Segoe UI"/>
              </a:rPr>
              <a:t>reset stress result</a:t>
            </a:r>
          </a:p>
        </p:txBody>
      </p:sp>
      <p:sp>
        <p:nvSpPr>
          <p:cNvPr id="27" name="">
            <a:extLst xmlns:a="http://schemas.openxmlformats.org/drawingml/2006/main">
              <a:ext uri="{FF2B5EF4-FFF2-40B4-BE49-F238E27FC236}">
                <a16:creationId xmlns:a16="http://schemas.microsoft.com/office/drawing/2014/main" id="{10EC8F92-254E-4CBD-B03F-71CB912FA72B}"/>
              </a:ext>
            </a:extLst>
          </p:cNvPr>
          <p:cNvSpPr>
            <a:spLocks xmlns:a="http://schemas.openxmlformats.org/drawingml/2006/main" noGrp="1"/>
          </p:cNvSpPr>
          <p:nvPr/>
        </p:nvSpPr>
        <p:spPr>
          <a:xfrm xmlns:a="http://schemas.openxmlformats.org/drawingml/2006/main">
            <a:off x="400050" y="4819650"/>
            <a:ext cx="8343900" cy="133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638" b="0">
                <a:solidFill>
                  <a:srgbClr val="5B6876"/>
                </a:solidFill>
                <a:latin typeface="Segoe UI"/>
                <a:ea typeface="Segoe UI"/>
                <a:cs typeface="Segoe UI"/>
              </a:defRPr>
            </a:pPr>
            <a:r>
              <a:rPr sz="638" b="0">
                <a:solidFill>
                  <a:srgbClr val="5B6876"/>
                </a:solidFill>
                <a:latin typeface="Segoe UI"/>
                <a:ea typeface="Segoe UI"/>
                <a:cs typeface="Segoe UI"/>
              </a:rPr>
              <a:t>Log source: /home/wangpei/mros2/mros2-esp32/results/qos_preflight_20260610_030606</a:t>
            </a:r>
          </a:p>
        </p:txBody>
      </p:sp>
    </p:spTree>
    <p:extLst>
      <p:ext uri="{BB962C8B-B14F-4D97-AF65-F5344CB8AC3E}">
        <p14:creationId xmlns:p14="http://schemas.microsoft.com/office/powerpoint/2010/main" val="1131471621"/>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D274142-B48D-4434-B98B-445A4467017C}"/>
              </a:ext>
            </a:extLst>
          </p:cNvPr>
          <p:cNvSpPr>
            <a:spLocks xmlns:a="http://schemas.openxmlformats.org/drawingml/2006/main" noGrp="1"/>
          </p:cNvSpPr>
          <p:nvPr/>
        </p:nvSpPr>
        <p:spPr>
          <a:xfrm xmlns:a="http://schemas.openxmlformats.org/drawingml/2006/main">
            <a:off x="400050" y="266700"/>
            <a:ext cx="4953000" cy="171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900" b="1">
                <a:solidFill>
                  <a:srgbClr val="0B8F87"/>
                </a:solidFill>
                <a:latin typeface="Segoe UI"/>
                <a:ea typeface="Segoe UI"/>
                <a:cs typeface="Segoe UI"/>
              </a:defRPr>
            </a:pPr>
            <a:r>
              <a:rPr sz="900" b="1">
                <a:solidFill>
                  <a:srgbClr val="0B8F87"/>
                </a:solidFill>
                <a:latin typeface="Segoe UI"/>
                <a:ea typeface="Segoe UI"/>
                <a:cs typeface="Segoe UI"/>
              </a:rPr>
              <a:t>QoS evidence boundary</a:t>
            </a:r>
          </a:p>
        </p:txBody>
      </p:sp>
      <p:sp>
        <p:nvSpPr>
          <p:cNvPr id="2" name="">
            <a:extLst xmlns:a="http://schemas.openxmlformats.org/drawingml/2006/main">
              <a:ext uri="{FF2B5EF4-FFF2-40B4-BE49-F238E27FC236}">
                <a16:creationId xmlns:a16="http://schemas.microsoft.com/office/drawing/2014/main" id="{263B16A0-B84D-4F27-AFC7-8BF1C1AE1817}"/>
              </a:ext>
            </a:extLst>
          </p:cNvPr>
          <p:cNvSpPr>
            <a:spLocks xmlns:a="http://schemas.openxmlformats.org/drawingml/2006/main" noGrp="1"/>
          </p:cNvSpPr>
          <p:nvPr/>
        </p:nvSpPr>
        <p:spPr>
          <a:xfrm xmlns:a="http://schemas.openxmlformats.org/drawingml/2006/main">
            <a:off x="400050" y="495300"/>
            <a:ext cx="6953250" cy="4000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lnSpc>
                <a:spcPct val="100000"/>
              </a:lnSpc>
              <a:buNone/>
              <a:defRPr sz="2175" b="1">
                <a:solidFill>
                  <a:srgbClr val="17212B"/>
                </a:solidFill>
                <a:latin typeface="Segoe UI"/>
                <a:ea typeface="Segoe UI"/>
                <a:cs typeface="Segoe UI"/>
              </a:defRPr>
            </a:pPr>
            <a:r>
              <a:rPr sz="2175" b="1">
                <a:solidFill>
                  <a:srgbClr val="17212B"/>
                </a:solidFill>
                <a:latin typeface="Segoe UI"/>
                <a:ea typeface="Segoe UI"/>
                <a:cs typeface="Segoe UI"/>
              </a:rPr>
              <a:t>Seven QoS Evidence: ROS2 CLI + ESP32 Behavior</a:t>
            </a:r>
          </a:p>
        </p:txBody>
      </p:sp>
      <p:sp>
        <p:nvSpPr>
          <p:cNvPr id="3" name="">
            <a:extLst xmlns:a="http://schemas.openxmlformats.org/drawingml/2006/main">
              <a:ext uri="{FF2B5EF4-FFF2-40B4-BE49-F238E27FC236}">
                <a16:creationId xmlns:a16="http://schemas.microsoft.com/office/drawing/2014/main" id="{DA4C6BF5-8BC9-44BB-AC41-0C5632F333C5}"/>
              </a:ext>
            </a:extLst>
          </p:cNvPr>
          <p:cNvSpPr>
            <a:spLocks xmlns:a="http://schemas.openxmlformats.org/drawingml/2006/main" noGrp="1"/>
          </p:cNvSpPr>
          <p:nvPr/>
        </p:nvSpPr>
        <p:spPr>
          <a:xfrm xmlns:a="http://schemas.openxmlformats.org/drawingml/2006/main">
            <a:off x="6972300" y="323850"/>
            <a:ext cx="177165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r">
              <a:defRPr sz="750" b="0">
                <a:solidFill>
                  <a:srgbClr val="5B6876"/>
                </a:solidFill>
                <a:latin typeface="Segoe UI"/>
                <a:ea typeface="Segoe UI"/>
                <a:cs typeface="Segoe UI"/>
              </a:defRPr>
            </a:pPr>
            <a:r>
              <a:rPr sz="750" b="0">
                <a:solidFill>
                  <a:srgbClr val="5B6876"/>
                </a:solidFill>
                <a:latin typeface="Segoe UI"/>
                <a:ea typeface="Segoe UI"/>
                <a:cs typeface="Segoe UI"/>
              </a:rPr>
              <a:t>2026-06-10 | mROS2-ESP32 QoS progress</a:t>
            </a:r>
          </a:p>
        </p:txBody>
      </p:sp>
      <p:sp>
        <p:nvSpPr>
          <p:cNvPr id="4" name="">
            <a:extLst xmlns:a="http://schemas.openxmlformats.org/drawingml/2006/main">
              <a:ext uri="{FF2B5EF4-FFF2-40B4-BE49-F238E27FC236}">
                <a16:creationId xmlns:a16="http://schemas.microsoft.com/office/drawing/2014/main" id="{67D236AA-AB92-44CA-9ACB-1088185702C2}"/>
              </a:ext>
            </a:extLst>
          </p:cNvPr>
          <p:cNvSpPr>
            <a:spLocks xmlns:a="http://schemas.openxmlformats.org/drawingml/2006/main" noGrp="1"/>
          </p:cNvSpPr>
          <p:nvPr/>
        </p:nvSpPr>
        <p:spPr>
          <a:xfrm xmlns:a="http://schemas.openxmlformats.org/drawingml/2006/main">
            <a:off x="400050" y="995363"/>
            <a:ext cx="8343900" cy="9525"/>
          </a:xfrm>
          <a:prstGeom xmlns:a="http://schemas.openxmlformats.org/drawingml/2006/main" prst="rect">
            <a:avLst/>
          </a:prstGeom>
          <a:solidFill xmlns:a="http://schemas.openxmlformats.org/drawingml/2006/main">
            <a:srgbClr val="D8E0E7"/>
          </a:solidFill>
        </p:spPr>
      </p:sp>
      <p:sp>
        <p:nvSpPr>
          <p:cNvPr id="5" name="">
            <a:extLst xmlns:a="http://schemas.openxmlformats.org/drawingml/2006/main">
              <a:ext uri="{FF2B5EF4-FFF2-40B4-BE49-F238E27FC236}">
                <a16:creationId xmlns:a16="http://schemas.microsoft.com/office/drawing/2014/main" id="{C0C06142-387D-440D-9D78-0EBE0E50F98D}"/>
              </a:ext>
            </a:extLst>
          </p:cNvPr>
          <p:cNvSpPr>
            <a:spLocks xmlns:a="http://schemas.openxmlformats.org/drawingml/2006/main" noGrp="1"/>
          </p:cNvSpPr>
          <p:nvPr/>
        </p:nvSpPr>
        <p:spPr>
          <a:xfrm xmlns:a="http://schemas.openxmlformats.org/drawingml/2006/main">
            <a:off x="400050" y="1143000"/>
            <a:ext cx="83439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990" b="0">
                <a:solidFill>
                  <a:srgbClr val="5B6876"/>
                </a:solidFill>
                <a:latin typeface="Segoe UI"/>
                <a:ea typeface="Segoe UI"/>
                <a:cs typeface="Segoe UI"/>
              </a:defRPr>
            </a:pPr>
            <a:r>
              <a:rPr sz="990" b="0">
                <a:solidFill>
                  <a:srgbClr val="5B6876"/>
                </a:solidFill>
                <a:latin typeface="Segoe UI"/>
                <a:ea typeface="Segoe UI"/>
                <a:cs typeface="Segoe UI"/>
              </a:rPr>
              <a:t>Standard ROS2 CLI output directly proves the QoS policies visible through discovery. History depth and Resource Limits are validated through ESP32 monitor behavior logs. This makes the evidence stronger and keeps the prototype boundary honest.</a:t>
            </a:r>
          </a:p>
        </p:txBody>
      </p:sp>
      <p:sp>
        <p:nvSpPr>
          <p:cNvPr id="6" name="">
            <a:extLst xmlns:a="http://schemas.openxmlformats.org/drawingml/2006/main">
              <a:ext uri="{FF2B5EF4-FFF2-40B4-BE49-F238E27FC236}">
                <a16:creationId xmlns:a16="http://schemas.microsoft.com/office/drawing/2014/main" id="{07BD03FD-CC8D-4462-9FAF-5A98AA6D5EB4}"/>
              </a:ext>
            </a:extLst>
          </p:cNvPr>
          <p:cNvSpPr>
            <a:spLocks xmlns:a="http://schemas.openxmlformats.org/drawingml/2006/main" noGrp="1"/>
          </p:cNvSpPr>
          <p:nvPr/>
        </p:nvSpPr>
        <p:spPr>
          <a:xfrm xmlns:a="http://schemas.openxmlformats.org/drawingml/2006/main">
            <a:off x="7124700" y="685800"/>
            <a:ext cx="1619250" cy="457200"/>
          </a:xfrm>
          <a:prstGeom xmlns:a="http://schemas.openxmlformats.org/drawingml/2006/main" prst="roundRect">
            <a:avLst>
              <a:gd name="adj" fmla="val 16667"/>
            </a:avLst>
          </a:prstGeom>
          <a:solidFill xmlns:a="http://schemas.openxmlformats.org/drawingml/2006/main">
            <a:srgbClr val="E6F6EB"/>
          </a:solidFill>
          <a:ln xmlns:a="http://schemas.openxmlformats.org/drawingml/2006/main" w="4763">
            <a:solidFill>
              <a:srgbClr val="FFFFFF"/>
            </a:solidFill>
          </a:ln>
        </p:spPr>
      </p:sp>
      <p:sp>
        <p:nvSpPr>
          <p:cNvPr id="7" name="">
            <a:extLst xmlns:a="http://schemas.openxmlformats.org/drawingml/2006/main">
              <a:ext uri="{FF2B5EF4-FFF2-40B4-BE49-F238E27FC236}">
                <a16:creationId xmlns:a16="http://schemas.microsoft.com/office/drawing/2014/main" id="{96B6D382-AEA4-4597-B042-55FE17C9F363}"/>
              </a:ext>
            </a:extLst>
          </p:cNvPr>
          <p:cNvSpPr>
            <a:spLocks xmlns:a="http://schemas.openxmlformats.org/drawingml/2006/main" noGrp="1"/>
          </p:cNvSpPr>
          <p:nvPr/>
        </p:nvSpPr>
        <p:spPr>
          <a:xfrm xmlns:a="http://schemas.openxmlformats.org/drawingml/2006/main">
            <a:off x="7277100" y="771525"/>
            <a:ext cx="838200" cy="142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788" b="1">
                <a:solidFill>
                  <a:srgbClr val="16803C"/>
                </a:solidFill>
                <a:latin typeface="Segoe UI"/>
                <a:ea typeface="Segoe UI"/>
                <a:cs typeface="Segoe UI"/>
              </a:defRPr>
            </a:pPr>
            <a:r>
              <a:rPr sz="788" b="1">
                <a:solidFill>
                  <a:srgbClr val="16803C"/>
                </a:solidFill>
                <a:latin typeface="Segoe UI"/>
                <a:ea typeface="Segoe UI"/>
                <a:cs typeface="Segoe UI"/>
              </a:rPr>
              <a:t>reset stress</a:t>
            </a:r>
          </a:p>
        </p:txBody>
      </p:sp>
      <p:sp>
        <p:nvSpPr>
          <p:cNvPr id="8" name="">
            <a:extLst xmlns:a="http://schemas.openxmlformats.org/drawingml/2006/main">
              <a:ext uri="{FF2B5EF4-FFF2-40B4-BE49-F238E27FC236}">
                <a16:creationId xmlns:a16="http://schemas.microsoft.com/office/drawing/2014/main" id="{6B96EE61-EA98-40A3-A152-E67CE3F44ED3}"/>
              </a:ext>
            </a:extLst>
          </p:cNvPr>
          <p:cNvSpPr>
            <a:spLocks xmlns:a="http://schemas.openxmlformats.org/drawingml/2006/main" noGrp="1"/>
          </p:cNvSpPr>
          <p:nvPr/>
        </p:nvSpPr>
        <p:spPr>
          <a:xfrm xmlns:a="http://schemas.openxmlformats.org/drawingml/2006/main">
            <a:off x="7277100" y="914400"/>
            <a:ext cx="1123950" cy="171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350" b="1">
                <a:solidFill>
                  <a:srgbClr val="16803C"/>
                </a:solidFill>
                <a:latin typeface="Segoe UI"/>
                <a:ea typeface="Segoe UI"/>
                <a:cs typeface="Segoe UI"/>
              </a:defRPr>
            </a:pPr>
            <a:r>
              <a:rPr sz="1350" b="1">
                <a:solidFill>
                  <a:srgbClr val="16803C"/>
                </a:solidFill>
                <a:latin typeface="Segoe UI"/>
                <a:ea typeface="Segoe UI"/>
                <a:cs typeface="Segoe UI"/>
              </a:rPr>
              <a:t>3/3 PASS</a:t>
            </a:r>
          </a:p>
        </p:txBody>
      </p:sp>
      <p:sp>
        <p:nvSpPr>
          <p:cNvPr id="9" name="">
            <a:extLst xmlns:a="http://schemas.openxmlformats.org/drawingml/2006/main">
              <a:ext uri="{FF2B5EF4-FFF2-40B4-BE49-F238E27FC236}">
                <a16:creationId xmlns:a16="http://schemas.microsoft.com/office/drawing/2014/main" id="{DB9721BC-8ACA-47F0-8876-85A9C6236385}"/>
              </a:ext>
            </a:extLst>
          </p:cNvPr>
          <p:cNvSpPr>
            <a:spLocks xmlns:a="http://schemas.openxmlformats.org/drawingml/2006/main" noGrp="1"/>
          </p:cNvSpPr>
          <p:nvPr/>
        </p:nvSpPr>
        <p:spPr>
          <a:xfrm xmlns:a="http://schemas.openxmlformats.org/drawingml/2006/main">
            <a:off x="400050" y="1619250"/>
            <a:ext cx="3619500" cy="209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163" b="1">
                <a:solidFill>
                  <a:srgbClr val="2B6CB0"/>
                </a:solidFill>
                <a:latin typeface="Segoe UI"/>
                <a:ea typeface="Segoe UI"/>
                <a:cs typeface="Segoe UI"/>
              </a:defRPr>
            </a:pPr>
            <a:r>
              <a:rPr sz="1163" b="1">
                <a:solidFill>
                  <a:srgbClr val="2B6CB0"/>
                </a:solidFill>
                <a:latin typeface="Segoe UI"/>
                <a:ea typeface="Segoe UI"/>
                <a:cs typeface="Segoe UI"/>
              </a:rPr>
              <a:t>ROS2 topic info --verbose</a:t>
            </a:r>
          </a:p>
        </p:txBody>
      </p:sp>
      <p:sp>
        <p:nvSpPr>
          <p:cNvPr id="10" name="">
            <a:extLst xmlns:a="http://schemas.openxmlformats.org/drawingml/2006/main">
              <a:ext uri="{FF2B5EF4-FFF2-40B4-BE49-F238E27FC236}">
                <a16:creationId xmlns:a16="http://schemas.microsoft.com/office/drawing/2014/main" id="{36E27757-805F-4945-9A85-60FA3BDABC97}"/>
              </a:ext>
            </a:extLst>
          </p:cNvPr>
          <p:cNvSpPr>
            <a:spLocks xmlns:a="http://schemas.openxmlformats.org/drawingml/2006/main" noGrp="1"/>
          </p:cNvSpPr>
          <p:nvPr/>
        </p:nvSpPr>
        <p:spPr>
          <a:xfrm xmlns:a="http://schemas.openxmlformats.org/drawingml/2006/main">
            <a:off x="4733925" y="1619250"/>
            <a:ext cx="3619500" cy="209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163" b="1">
                <a:solidFill>
                  <a:srgbClr val="0B8F87"/>
                </a:solidFill>
                <a:latin typeface="Segoe UI"/>
                <a:ea typeface="Segoe UI"/>
                <a:cs typeface="Segoe UI"/>
              </a:defRPr>
            </a:pPr>
            <a:r>
              <a:rPr sz="1163" b="1">
                <a:solidFill>
                  <a:srgbClr val="0B8F87"/>
                </a:solidFill>
                <a:latin typeface="Segoe UI"/>
                <a:ea typeface="Segoe UI"/>
                <a:cs typeface="Segoe UI"/>
              </a:rPr>
              <a:t>ESP32 monitor behavior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07d908013514b10"/>
          <a:stretch xmlns:a="http://schemas.openxmlformats.org/drawingml/2006/main"/>
        </p:blipFill>
        <p:spPr>
          <a:xfrm xmlns:a="http://schemas.openxmlformats.org/drawingml/2006/main">
            <a:off x="405342" y="1885950"/>
            <a:ext cx="3894667" cy="175260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a2798aa327f46a0"/>
          <a:stretch xmlns:a="http://schemas.openxmlformats.org/drawingml/2006/main"/>
        </p:blipFill>
        <p:spPr>
          <a:xfrm xmlns:a="http://schemas.openxmlformats.org/drawingml/2006/main">
            <a:off x="4733925" y="1886479"/>
            <a:ext cx="4010025" cy="2227792"/>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6A55B8E-DBFE-408A-A0AC-F09EE9700F58}"/>
              </a:ext>
            </a:extLst>
          </p:cNvPr>
          <p:cNvSpPr>
            <a:spLocks xmlns:a="http://schemas.openxmlformats.org/drawingml/2006/main" noGrp="1"/>
          </p:cNvSpPr>
          <p:nvPr/>
        </p:nvSpPr>
        <p:spPr>
          <a:xfrm xmlns:a="http://schemas.openxmlformats.org/drawingml/2006/main">
            <a:off x="400050" y="3848100"/>
            <a:ext cx="3905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8E0E7"/>
            </a:solidFill>
          </a:ln>
        </p:spPr>
      </p:sp>
      <p:sp>
        <p:nvSpPr>
          <p:cNvPr id="14" name="">
            <a:extLst xmlns:a="http://schemas.openxmlformats.org/drawingml/2006/main">
              <a:ext uri="{FF2B5EF4-FFF2-40B4-BE49-F238E27FC236}">
                <a16:creationId xmlns:a16="http://schemas.microsoft.com/office/drawing/2014/main" id="{52B5BB4A-B83D-4E46-9204-4A79E1DF99E7}"/>
              </a:ext>
            </a:extLst>
          </p:cNvPr>
          <p:cNvSpPr>
            <a:spLocks xmlns:a="http://schemas.openxmlformats.org/drawingml/2006/main" noGrp="1"/>
          </p:cNvSpPr>
          <p:nvPr/>
        </p:nvSpPr>
        <p:spPr>
          <a:xfrm xmlns:a="http://schemas.openxmlformats.org/drawingml/2006/main">
            <a:off x="590550" y="3981450"/>
            <a:ext cx="1524000" cy="190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013" b="1">
                <a:solidFill>
                  <a:srgbClr val="2B6CB0"/>
                </a:solidFill>
                <a:latin typeface="Segoe UI"/>
                <a:ea typeface="Segoe UI"/>
                <a:cs typeface="Segoe UI"/>
              </a:defRPr>
            </a:pPr>
            <a:r>
              <a:rPr sz="1013" b="1">
                <a:solidFill>
                  <a:srgbClr val="2B6CB0"/>
                </a:solidFill>
                <a:latin typeface="Segoe UI"/>
                <a:ea typeface="Segoe UI"/>
                <a:cs typeface="Segoe UI"/>
              </a:rPr>
              <a:t>Directly visible in CLI</a:t>
            </a:r>
          </a:p>
        </p:txBody>
      </p:sp>
      <p:sp>
        <p:nvSpPr>
          <p:cNvPr id="15" name="">
            <a:extLst xmlns:a="http://schemas.openxmlformats.org/drawingml/2006/main">
              <a:ext uri="{FF2B5EF4-FFF2-40B4-BE49-F238E27FC236}">
                <a16:creationId xmlns:a16="http://schemas.microsoft.com/office/drawing/2014/main" id="{0D482807-4604-44B4-8727-2C561F8E655B}"/>
              </a:ext>
            </a:extLst>
          </p:cNvPr>
          <p:cNvSpPr>
            <a:spLocks xmlns:a="http://schemas.openxmlformats.org/drawingml/2006/main" noGrp="1"/>
          </p:cNvSpPr>
          <p:nvPr/>
        </p:nvSpPr>
        <p:spPr>
          <a:xfrm xmlns:a="http://schemas.openxmlformats.org/drawingml/2006/main">
            <a:off x="590550" y="4229100"/>
            <a:ext cx="3429000" cy="3238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lnSpc>
                <a:spcPct val="104000"/>
              </a:lnSpc>
              <a:buNone/>
              <a:defRPr sz="765" b="0">
                <a:solidFill>
                  <a:srgbClr val="5B6876"/>
                </a:solidFill>
                <a:latin typeface="Segoe UI"/>
                <a:ea typeface="Segoe UI"/>
                <a:cs typeface="Segoe UI"/>
              </a:defRPr>
            </a:pPr>
            <a:r>
              <a:rPr sz="765" b="0">
                <a:solidFill>
                  <a:srgbClr val="5B6876"/>
                </a:solidFill>
                <a:latin typeface="Segoe UI"/>
                <a:ea typeface="Segoe UI"/>
                <a:cs typeface="Segoe UI"/>
              </a:rPr>
              <a:t>Reliability is RELIABLE in both directions. Durability is VOLATILE. Deadline / Lifespan finite values and Liveliness AUTOMATIC are visible. History appears in CLI, while Depth is shown as UNKNOWN in Humble.</a:t>
            </a:r>
          </a:p>
        </p:txBody>
      </p:sp>
      <p:sp>
        <p:nvSpPr>
          <p:cNvPr id="16" name="">
            <a:extLst xmlns:a="http://schemas.openxmlformats.org/drawingml/2006/main">
              <a:ext uri="{FF2B5EF4-FFF2-40B4-BE49-F238E27FC236}">
                <a16:creationId xmlns:a16="http://schemas.microsoft.com/office/drawing/2014/main" id="{42D3DE13-7348-4456-BB66-99DFB3623076}"/>
              </a:ext>
            </a:extLst>
          </p:cNvPr>
          <p:cNvSpPr>
            <a:spLocks xmlns:a="http://schemas.openxmlformats.org/drawingml/2006/main" noGrp="1"/>
          </p:cNvSpPr>
          <p:nvPr/>
        </p:nvSpPr>
        <p:spPr>
          <a:xfrm xmlns:a="http://schemas.openxmlformats.org/drawingml/2006/main">
            <a:off x="4733925" y="4267200"/>
            <a:ext cx="4010025" cy="361950"/>
          </a:xfrm>
          <a:prstGeom xmlns:a="http://schemas.openxmlformats.org/drawingml/2006/main" prst="roundRect">
            <a:avLst>
              <a:gd name="adj" fmla="val 21053"/>
            </a:avLst>
          </a:prstGeom>
          <a:solidFill xmlns:a="http://schemas.openxmlformats.org/drawingml/2006/main">
            <a:srgbClr val="111827"/>
          </a:solidFill>
        </p:spPr>
      </p:sp>
      <p:sp>
        <p:nvSpPr>
          <p:cNvPr id="17" name="">
            <a:extLst xmlns:a="http://schemas.openxmlformats.org/drawingml/2006/main">
              <a:ext uri="{FF2B5EF4-FFF2-40B4-BE49-F238E27FC236}">
                <a16:creationId xmlns:a16="http://schemas.microsoft.com/office/drawing/2014/main" id="{04F5E677-6CE4-46FC-99F1-A5767A5F7B90}"/>
              </a:ext>
            </a:extLst>
          </p:cNvPr>
          <p:cNvSpPr>
            <a:spLocks xmlns:a="http://schemas.openxmlformats.org/drawingml/2006/main" noGrp="1"/>
          </p:cNvSpPr>
          <p:nvPr/>
        </p:nvSpPr>
        <p:spPr>
          <a:xfrm xmlns:a="http://schemas.openxmlformats.org/drawingml/2006/main">
            <a:off x="4886325" y="4362450"/>
            <a:ext cx="3695700" cy="171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lnSpc>
                <a:spcPct val="100000"/>
              </a:lnSpc>
              <a:buNone/>
              <a:defRPr sz="780" b="0">
                <a:solidFill>
                  <a:srgbClr val="E8F1FB"/>
                </a:solidFill>
                <a:latin typeface="Segoe UI"/>
                <a:ea typeface="Segoe UI"/>
                <a:cs typeface="Segoe UI"/>
              </a:defRPr>
            </a:pPr>
            <a:r>
              <a:rPr sz="780" b="0">
                <a:solidFill>
                  <a:srgbClr val="E8F1FB"/>
                </a:solidFill>
                <a:latin typeface="Segoe UI"/>
                <a:ea typeface="Segoe UI"/>
                <a:cs typeface="Segoe UI"/>
              </a:rPr>
              <a:t>Resource Limits and KEEP_LAST are validated by behavior logs: History cache 5/5, burst rejection 30, Resource stats 30/30.</a:t>
            </a:r>
          </a:p>
        </p:txBody>
      </p:sp>
      <p:sp>
        <p:nvSpPr>
          <p:cNvPr id="18" name="">
            <a:extLst xmlns:a="http://schemas.openxmlformats.org/drawingml/2006/main">
              <a:ext uri="{FF2B5EF4-FFF2-40B4-BE49-F238E27FC236}">
                <a16:creationId xmlns:a16="http://schemas.microsoft.com/office/drawing/2014/main" id="{1DDCE3D0-02EC-4FE5-BFDC-1631827A0AD6}"/>
              </a:ext>
            </a:extLst>
          </p:cNvPr>
          <p:cNvSpPr>
            <a:spLocks xmlns:a="http://schemas.openxmlformats.org/drawingml/2006/main" noGrp="1"/>
          </p:cNvSpPr>
          <p:nvPr/>
        </p:nvSpPr>
        <p:spPr>
          <a:xfrm xmlns:a="http://schemas.openxmlformats.org/drawingml/2006/main">
            <a:off x="400050" y="4819650"/>
            <a:ext cx="8343900" cy="1524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660" b="0">
                <a:solidFill>
                  <a:srgbClr val="5B6876"/>
                </a:solidFill>
                <a:latin typeface="Segoe UI"/>
                <a:ea typeface="Segoe UI"/>
                <a:cs typeface="Segoe UI"/>
              </a:defRPr>
            </a:pPr>
            <a:r>
              <a:rPr sz="660" b="0">
                <a:solidFill>
                  <a:srgbClr val="5B6876"/>
                </a:solidFill>
                <a:latin typeface="Segoe UI"/>
                <a:ea typeface="Segoe UI"/>
                <a:cs typeface="Segoe UI"/>
              </a:rPr>
              <a:t>Conclusion: the current demo can show bidirectional RELIABLE real-hardware communication and evidence for seven QoS classes. It is presented as a QoS extension prototype, not a complete product-grade DDS QoS implementation.</a:t>
            </a:r>
          </a:p>
        </p:txBody>
      </p:sp>
    </p:spTree>
    <p:extLst>
      <p:ext uri="{BB962C8B-B14F-4D97-AF65-F5344CB8AC3E}">
        <p14:creationId xmlns:p14="http://schemas.microsoft.com/office/powerpoint/2010/main" val="16308847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2026-06-10T01:29:40.2470000Z</dcterms:created>
  <dcterms:modified xsi:type="dcterms:W3CDTF">2026-06-10T01:29:40.2470000Z</dcterms:modified>
</coreProperties>
</file>